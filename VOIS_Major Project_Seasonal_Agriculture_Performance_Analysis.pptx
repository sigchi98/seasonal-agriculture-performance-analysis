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7"/>
  </p:notesMasterIdLst>
  <p:handoutMasterIdLst>
    <p:handoutMasterId r:id="rId28"/>
  </p:handoutMasterIdLst>
  <p:sldIdLst>
    <p:sldId id="338" r:id="rId5"/>
    <p:sldId id="327" r:id="rId6"/>
    <p:sldId id="315" r:id="rId7"/>
    <p:sldId id="347" r:id="rId8"/>
    <p:sldId id="329" r:id="rId9"/>
    <p:sldId id="302" r:id="rId10"/>
    <p:sldId id="339" r:id="rId11"/>
    <p:sldId id="340" r:id="rId12"/>
    <p:sldId id="344" r:id="rId13"/>
    <p:sldId id="345" r:id="rId14"/>
    <p:sldId id="346" r:id="rId15"/>
    <p:sldId id="348" r:id="rId16"/>
    <p:sldId id="349" r:id="rId17"/>
    <p:sldId id="350" r:id="rId18"/>
    <p:sldId id="351" r:id="rId19"/>
    <p:sldId id="352" r:id="rId20"/>
    <p:sldId id="353" r:id="rId21"/>
    <p:sldId id="354" r:id="rId22"/>
    <p:sldId id="341" r:id="rId23"/>
    <p:sldId id="342" r:id="rId24"/>
    <p:sldId id="343" r:id="rId25"/>
    <p:sldId id="30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5" d="100"/>
          <a:sy n="85" d="100"/>
        </p:scale>
        <p:origin x="494"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Sigchi98/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hyperlink" Target="mailto:ms2239@cse.jgec.ac.in" TargetMode="External"/><Relationship Id="rId7" Type="http://schemas.openxmlformats.org/officeDocument/2006/relationships/hyperlink" Target="https://colab.research.google.com/drive/1TdXwb-sWrLA9aCcV1VudkqmjcKOdPZzz?usp=sharing" TargetMode="External"/><Relationship Id="rId2" Type="http://schemas.openxmlformats.org/officeDocument/2006/relationships/image" Target="../media/image1.jfif"/><Relationship Id="rId1" Type="http://schemas.openxmlformats.org/officeDocument/2006/relationships/slideLayout" Target="../slideLayouts/slideLayout20.xml"/><Relationship Id="rId6" Type="http://schemas.openxmlformats.org/officeDocument/2006/relationships/hyperlink" Target="https://github.com/Sigchi98/Seasonal-Agriculture-Performance-Analysis.git" TargetMode="External"/><Relationship Id="rId5" Type="http://schemas.openxmlformats.org/officeDocument/2006/relationships/hyperlink" Target="https://linkedin.com/in/mohitsigchi" TargetMode="External"/><Relationship Id="rId4" Type="http://schemas.openxmlformats.org/officeDocument/2006/relationships/hyperlink" Target="mailto:mohitsigchi@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82667" y="3687424"/>
            <a:ext cx="8526862" cy="979405"/>
          </a:xfrm>
        </p:spPr>
        <p:txBody>
          <a:bodyPr vert="horz" lIns="91440" tIns="45720" rIns="91440" bIns="45720" rtlCol="0" anchor="t">
            <a:noAutofit/>
          </a:bodyPr>
          <a:lstStyle/>
          <a:p>
            <a:r>
              <a:rPr lang="en-US" sz="2400" b="0" dirty="0">
                <a:solidFill>
                  <a:schemeClr val="tx1"/>
                </a:solidFill>
              </a:rPr>
              <a:t>[Mohit Sigchi]</a:t>
            </a:r>
            <a:endParaRPr lang="en-IN" sz="2400" b="0" dirty="0">
              <a:solidFill>
                <a:schemeClr val="tx1"/>
              </a:solidFill>
            </a:endParaRPr>
          </a:p>
          <a:p>
            <a:r>
              <a:rPr lang="en-US" sz="2400" b="0" dirty="0">
                <a:solidFill>
                  <a:schemeClr val="tx1"/>
                </a:solidFill>
              </a:rPr>
              <a:t>[Jalpaiguri Government Engineering College ]</a:t>
            </a:r>
            <a:endParaRPr lang="en-IN" sz="24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82667" y="2483194"/>
            <a:ext cx="8526862" cy="1306667"/>
          </a:xfrm>
        </p:spPr>
        <p:txBody>
          <a:bodyPr>
            <a:normAutofit/>
          </a:bodyPr>
          <a:lstStyle/>
          <a:p>
            <a:r>
              <a:rPr lang="en-IN" sz="3200" dirty="0"/>
              <a:t>Major Project: </a:t>
            </a:r>
            <a:br>
              <a:rPr lang="en-IN" sz="3200" dirty="0"/>
            </a:br>
            <a:r>
              <a:rPr lang="en-IN" sz="3200" u="sng"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82667" y="4666829"/>
            <a:ext cx="8526861" cy="369332"/>
          </a:xfrm>
          <a:prstGeom prst="rect">
            <a:avLst/>
          </a:prstGeom>
          <a:noFill/>
        </p:spPr>
        <p:txBody>
          <a:bodyPr wrap="square" rtlCol="0">
            <a:spAutoFit/>
          </a:bodyPr>
          <a:lstStyle/>
          <a:p>
            <a:r>
              <a:rPr lang="en-US" b="1" dirty="0"/>
              <a:t>AICTE STU ID : </a:t>
            </a:r>
            <a:r>
              <a:rPr lang="en-IN" b="1" dirty="0"/>
              <a:t>STU605da1eeefcd61616749038</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82156" y="1089518"/>
            <a:ext cx="8043279" cy="5302317"/>
          </a:xfrm>
        </p:spPr>
        <p:txBody>
          <a:bodyPr vert="horz" lIns="91440" tIns="45720" rIns="91440" bIns="45720" rtlCol="0" anchor="t">
            <a:noAutofit/>
          </a:bodyPr>
          <a:lstStyle/>
          <a:p>
            <a:pPr marL="0" indent="0" algn="just">
              <a:lnSpc>
                <a:spcPct val="100000"/>
              </a:lnSpc>
              <a:buNone/>
            </a:pPr>
            <a:r>
              <a:rPr lang="en-IN" sz="2400" dirty="0">
                <a:solidFill>
                  <a:schemeClr val="tx1"/>
                </a:solidFill>
                <a:latin typeface="Aptos" panose="020B0004020202020204" pitchFamily="34" charset="0"/>
                <a:ea typeface="Calibri" panose="020F0502020204030204" pitchFamily="34" charset="0"/>
                <a:cs typeface="Calibri" panose="020F0502020204030204" pitchFamily="34" charset="0"/>
              </a:rPr>
              <a:t>Agricultural activities are influenced by seasonal variations in environmental conditions, farming practices, resource availability and market conditions. As a result, agricultural performance may differ from one season to another.</a:t>
            </a:r>
          </a:p>
          <a:p>
            <a:pPr marL="0" indent="0" algn="just">
              <a:lnSpc>
                <a:spcPct val="100000"/>
              </a:lnSpc>
              <a:buNone/>
            </a:pPr>
            <a:r>
              <a:rPr lang="en-IN" sz="2400" dirty="0">
                <a:solidFill>
                  <a:schemeClr val="tx1"/>
                </a:solidFill>
                <a:latin typeface="Aptos" panose="020B0004020202020204" pitchFamily="34" charset="0"/>
                <a:ea typeface="Calibri" panose="020F0502020204030204" pitchFamily="34" charset="0"/>
                <a:cs typeface="Calibri" panose="020F0502020204030204" pitchFamily="34" charset="0"/>
              </a:rPr>
              <a:t>However, raw agricultural data does not clearly explain how agricultural performance changes across seasons or what patterns can be observed in different seasonal conditions.</a:t>
            </a:r>
          </a:p>
          <a:p>
            <a:pPr marL="0" indent="0" algn="just">
              <a:lnSpc>
                <a:spcPct val="100000"/>
              </a:lnSpc>
              <a:buNone/>
            </a:pPr>
            <a:r>
              <a:rPr lang="en-IN" sz="2400" dirty="0">
                <a:solidFill>
                  <a:schemeClr val="tx1"/>
                </a:solidFill>
                <a:latin typeface="Aptos" panose="020B0004020202020204" pitchFamily="34" charset="0"/>
                <a:ea typeface="Calibri" panose="020F0502020204030204" pitchFamily="34" charset="0"/>
                <a:cs typeface="Calibri" panose="020F0502020204030204" pitchFamily="34" charset="0"/>
              </a:rPr>
              <a:t>The problem is to </a:t>
            </a:r>
            <a:r>
              <a:rPr lang="en-IN" sz="2400" dirty="0" err="1">
                <a:solidFill>
                  <a:schemeClr val="tx1"/>
                </a:solidFill>
                <a:latin typeface="Aptos" panose="020B0004020202020204" pitchFamily="34" charset="0"/>
                <a:ea typeface="Calibri" panose="020F0502020204030204" pitchFamily="34" charset="0"/>
                <a:cs typeface="Calibri" panose="020F0502020204030204" pitchFamily="34" charset="0"/>
              </a:rPr>
              <a:t>analyze</a:t>
            </a:r>
            <a:r>
              <a:rPr lang="en-IN" sz="2400" dirty="0">
                <a:solidFill>
                  <a:schemeClr val="tx1"/>
                </a:solidFill>
                <a:latin typeface="Aptos" panose="020B0004020202020204" pitchFamily="34" charset="0"/>
                <a:ea typeface="Calibri" panose="020F0502020204030204" pitchFamily="34" charset="0"/>
                <a:cs typeface="Calibri" panose="020F0502020204030204" pitchFamily="34" charset="0"/>
              </a:rPr>
              <a:t> the given agricultural dataset and investigate seasonal differences in agricultural performance by identifying meaningful patterns, trends, relationships and variations within the available data</a:t>
            </a:r>
            <a:r>
              <a:rPr lang="en-IN" sz="2400" dirty="0">
                <a:latin typeface="Aptos" panose="020B0004020202020204" pitchFamily="34" charset="0"/>
                <a:ea typeface="Calibri" panose="020F0502020204030204" pitchFamily="34" charset="0"/>
                <a:cs typeface="Calibri" panose="020F0502020204030204" pitchFamily="34" charset="0"/>
              </a:rPr>
              <a:t>.</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482156" y="299406"/>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367284" y="3429000"/>
            <a:ext cx="2760758" cy="3264409"/>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122517" y="151447"/>
            <a:ext cx="10088283" cy="830997"/>
          </a:xfrm>
        </p:spPr>
        <p:txBody>
          <a:bodyPr>
            <a:normAutofit fontScale="90000"/>
          </a:bodyPr>
          <a:lstStyle/>
          <a:p>
            <a:r>
              <a:rPr lang="en-GB" dirty="0"/>
              <a:t>Project Description</a:t>
            </a:r>
            <a:br>
              <a:rPr lang="en-GB" dirty="0"/>
            </a:br>
            <a:br>
              <a:rPr lang="en-GB" sz="2000" dirty="0"/>
            </a:br>
            <a:r>
              <a:rPr lang="en-IN" sz="1600" b="0" dirty="0"/>
              <a:t>The dataset represents agricultural activities carried out across different seasons, geographical areas and farming conditions. It contains information related to farming practices, environmental conditions, crop production, resource usage and economic performance. </a:t>
            </a:r>
            <a:br>
              <a:rPr lang="en-IN" sz="1600" dirty="0"/>
            </a:br>
            <a:r>
              <a:rPr lang="en-IN" sz="1600" b="0" dirty="0"/>
              <a:t>Seasonal variations can influence different aspects of agricultural activities and performance. Understanding seasonal patterns through data analytics can help stakeholders:  Understand variations in agricultural performance  Identify important seasonal trends  Compare performance across different periods  Understand changing environmental conditions  Examine differences in resource usage  Identify areas requiring further investigation  Support evidence-based agricultural planning </a:t>
            </a:r>
            <a:br>
              <a:rPr lang="en-IN" sz="1600" b="0" dirty="0"/>
            </a:br>
            <a:r>
              <a:rPr lang="en-IN" sz="1600" b="0" dirty="0"/>
              <a:t>The primary objective of this project is to </a:t>
            </a:r>
            <a:r>
              <a:rPr lang="en-IN" sz="1600" dirty="0" err="1"/>
              <a:t>analyze</a:t>
            </a:r>
            <a:r>
              <a:rPr lang="en-IN" sz="1600" dirty="0"/>
              <a:t> agricultural data from different seasons and identify meaningful patterns, trends, relationships and differences in agricultural performance</a:t>
            </a:r>
            <a:r>
              <a:rPr lang="en-IN" sz="1600" b="0" dirty="0"/>
              <a:t>.</a:t>
            </a:r>
            <a:br>
              <a:rPr lang="en-IN" sz="1600" b="0" dirty="0"/>
            </a:br>
            <a:br>
              <a:rPr lang="en-IN" sz="1600" b="0" dirty="0"/>
            </a:br>
            <a:r>
              <a:rPr lang="en-IN" sz="1800" b="0" u="sng" dirty="0"/>
              <a:t>Expected Outcomes:</a:t>
            </a:r>
            <a:br>
              <a:rPr lang="en-GB" b="0" dirty="0"/>
            </a:br>
            <a:r>
              <a:rPr lang="en-IN" sz="1600" b="0" dirty="0"/>
              <a:t> Demonstrate an understanding of seasonal agricultural data.</a:t>
            </a:r>
            <a:br>
              <a:rPr lang="en-IN" sz="1600" b="0" dirty="0"/>
            </a:br>
            <a:r>
              <a:rPr lang="en-IN" sz="1600" b="0" dirty="0"/>
              <a:t> Perform appropriate data cleaning and preparation.</a:t>
            </a:r>
            <a:br>
              <a:rPr lang="en-IN" sz="1600" b="0" dirty="0"/>
            </a:br>
            <a:r>
              <a:rPr lang="en-IN" sz="1600" b="0" dirty="0"/>
              <a:t> Identify important seasonal patterns.</a:t>
            </a:r>
            <a:br>
              <a:rPr lang="en-IN" sz="1600" b="0" dirty="0"/>
            </a:br>
            <a:r>
              <a:rPr lang="en-IN" sz="1600" b="0" dirty="0"/>
              <a:t> Compare agricultural performance across seasons.</a:t>
            </a:r>
            <a:br>
              <a:rPr lang="en-IN" sz="1600" b="0" dirty="0"/>
            </a:br>
            <a:r>
              <a:rPr lang="en-IN" sz="1600" b="0" dirty="0"/>
              <a:t> Discover relationships and variations within the dataset.</a:t>
            </a:r>
            <a:br>
              <a:rPr lang="en-IN" sz="1600" b="0" dirty="0"/>
            </a:br>
            <a:r>
              <a:rPr lang="en-IN" sz="1600" b="0" dirty="0"/>
              <a:t> Select suitable analytical and visualization techniques independently.</a:t>
            </a:r>
            <a:br>
              <a:rPr lang="en-IN" sz="1600" b="0" dirty="0"/>
            </a:br>
            <a:r>
              <a:rPr lang="en-IN" sz="1600" b="0" dirty="0"/>
              <a:t> Interpret analytical findings correctly.</a:t>
            </a:r>
            <a:br>
              <a:rPr lang="en-IN" sz="1600" b="0" dirty="0"/>
            </a:br>
            <a:r>
              <a:rPr lang="en-IN" sz="1600" b="0" dirty="0"/>
              <a:t> Identify significant observations from the data.</a:t>
            </a:r>
            <a:br>
              <a:rPr lang="en-IN" sz="1600" b="0" dirty="0"/>
            </a:br>
            <a:r>
              <a:rPr lang="en-IN" sz="1600" b="0" dirty="0"/>
              <a:t> Develop evidence-based insights.</a:t>
            </a:r>
            <a:br>
              <a:rPr lang="en-IN" sz="1600" b="0" dirty="0"/>
            </a:br>
            <a:r>
              <a:rPr lang="en-IN" sz="1600" b="0" dirty="0"/>
              <a:t> Provide appropriate recommendations based on their findings.</a:t>
            </a:r>
            <a:br>
              <a:rPr lang="en-IN" sz="1600" b="0" dirty="0"/>
            </a:br>
            <a:r>
              <a:rPr lang="en-IN" sz="1600" b="0" dirty="0"/>
              <a:t> Document the complete analysis in a Jupyter Notebook. </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B17F899-F2A5-CE41-76E0-4374A38DAD9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31A977A-DE3A-75DC-8A72-E75124B9DB9D}"/>
              </a:ext>
            </a:extLst>
          </p:cNvPr>
          <p:cNvSpPr>
            <a:spLocks noGrp="1"/>
          </p:cNvSpPr>
          <p:nvPr>
            <p:ph type="title"/>
          </p:nvPr>
        </p:nvSpPr>
        <p:spPr>
          <a:xfrm>
            <a:off x="122517" y="151447"/>
            <a:ext cx="10088283" cy="830997"/>
          </a:xfrm>
        </p:spPr>
        <p:txBody>
          <a:bodyPr>
            <a:normAutofit fontScale="90000"/>
          </a:bodyPr>
          <a:lstStyle/>
          <a:p>
            <a:r>
              <a:rPr lang="en-GB" dirty="0"/>
              <a:t>Project Description</a:t>
            </a:r>
            <a:br>
              <a:rPr lang="en-GB" dirty="0"/>
            </a:br>
            <a:br>
              <a:rPr lang="en-GB" sz="2000" dirty="0"/>
            </a:br>
            <a:r>
              <a:rPr lang="en-GB" sz="2000" dirty="0"/>
              <a:t>..</a:t>
            </a:r>
            <a:r>
              <a:rPr lang="en-GB" sz="2000" b="0" dirty="0"/>
              <a:t>continuation</a:t>
            </a:r>
            <a:br>
              <a:rPr lang="en-GB" sz="2000" b="0" dirty="0"/>
            </a:br>
            <a:br>
              <a:rPr lang="en-GB" sz="2000" b="0" dirty="0"/>
            </a:br>
            <a:r>
              <a:rPr lang="en-GB" sz="2000" b="0" dirty="0"/>
              <a:t>Questions that needs to be answered:</a:t>
            </a:r>
            <a:br>
              <a:rPr lang="en-GB" sz="2000" b="0" dirty="0"/>
            </a:br>
            <a:br>
              <a:rPr lang="en-GB" sz="2000" b="0" dirty="0"/>
            </a:br>
            <a:r>
              <a:rPr lang="en-GB" sz="1800" b="0" dirty="0"/>
              <a:t>Q1. </a:t>
            </a:r>
            <a:r>
              <a:rPr lang="en-IN" sz="1800" b="0" dirty="0"/>
              <a:t>How does agricultural performance vary across seasons? </a:t>
            </a:r>
            <a:br>
              <a:rPr lang="en-IN" sz="1800" b="0" dirty="0"/>
            </a:br>
            <a:r>
              <a:rPr lang="en-IN" sz="1800" b="0" dirty="0"/>
              <a:t>Q2.What major seasonal patterns can be observed?</a:t>
            </a:r>
            <a:br>
              <a:rPr lang="en-IN" sz="1800" b="0" dirty="0"/>
            </a:br>
            <a:r>
              <a:rPr lang="en-IN" sz="1800" b="0" dirty="0"/>
              <a:t>Q3.Which characteristics change between seasons?</a:t>
            </a:r>
            <a:br>
              <a:rPr lang="en-IN" sz="1800" b="0" dirty="0"/>
            </a:br>
            <a:r>
              <a:rPr lang="en-IN" sz="1800" b="0" dirty="0"/>
              <a:t>Q4. What differences exist between agricultural activities in different seasons?</a:t>
            </a:r>
            <a:br>
              <a:rPr lang="en-IN" sz="1800" b="0" dirty="0"/>
            </a:br>
            <a:r>
              <a:rPr lang="en-IN" sz="1800" b="0" dirty="0"/>
              <a:t>Q5.Are there noticeable variations in resource usage across seasons?</a:t>
            </a:r>
            <a:br>
              <a:rPr lang="en-IN" sz="1800" b="0" dirty="0"/>
            </a:br>
            <a:r>
              <a:rPr lang="en-IN" sz="1800" b="0" dirty="0"/>
              <a:t>Q6. Are there relationships between seasonal environmental conditions and agricultural performance?</a:t>
            </a:r>
            <a:br>
              <a:rPr lang="en-IN" sz="1800" b="0" dirty="0"/>
            </a:br>
            <a:r>
              <a:rPr lang="en-IN" sz="1800" b="0" dirty="0"/>
              <a:t>Q7. How do economic outcomes vary across seasons?</a:t>
            </a:r>
            <a:br>
              <a:rPr lang="en-IN" sz="1800" b="0" dirty="0"/>
            </a:br>
            <a:r>
              <a:rPr lang="en-IN" sz="1800" b="0" dirty="0"/>
              <a:t>Q8. Are some seasonal patterns consistent across different regions or categories?</a:t>
            </a:r>
            <a:br>
              <a:rPr lang="en-IN" sz="1800" b="0" dirty="0"/>
            </a:br>
            <a:r>
              <a:rPr lang="en-IN" sz="1800" b="0" dirty="0"/>
              <a:t>Q9. Are there unusual or unexpected seasonal patterns?</a:t>
            </a:r>
            <a:br>
              <a:rPr lang="en-IN" sz="1800" b="0" dirty="0"/>
            </a:br>
            <a:r>
              <a:rPr lang="en-IN" sz="1800" b="0" dirty="0"/>
              <a:t>Q10. What insights can be derived from the observed seasonal differences?</a:t>
            </a:r>
            <a:br>
              <a:rPr lang="en-IN" sz="1800" b="0" dirty="0"/>
            </a:br>
            <a:r>
              <a:rPr lang="en-IN" sz="1800" b="0" dirty="0"/>
              <a:t>Q11. What conclusions can reasonably be drawn from the available data?</a:t>
            </a:r>
            <a:br>
              <a:rPr lang="en-IN" sz="1800" b="0" dirty="0"/>
            </a:br>
            <a:r>
              <a:rPr lang="en-IN" sz="1800" b="0" dirty="0"/>
              <a:t>Q12. How could the findings support better seasonal agricultural planning?</a:t>
            </a:r>
          </a:p>
        </p:txBody>
      </p:sp>
      <p:pic>
        <p:nvPicPr>
          <p:cNvPr id="5" name="Picture 4">
            <a:extLst>
              <a:ext uri="{FF2B5EF4-FFF2-40B4-BE49-F238E27FC236}">
                <a16:creationId xmlns:a16="http://schemas.microsoft.com/office/drawing/2014/main" id="{9DFFE470-954C-5C33-1C2E-F006A3581CE7}"/>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97458A88-9BC1-05F7-38CA-77D38E68A314}"/>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02644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066800"/>
            <a:ext cx="8637794" cy="5595779"/>
          </a:xfrm>
        </p:spPr>
        <p:txBody>
          <a:bodyPr>
            <a:normAutofit/>
          </a:bodyPr>
          <a:lstStyle/>
          <a:p>
            <a:r>
              <a:rPr lang="en-IN" sz="1800" b="1" dirty="0">
                <a:solidFill>
                  <a:schemeClr val="tx1"/>
                </a:solidFill>
              </a:rPr>
              <a:t>End Users of the Analysis</a:t>
            </a:r>
          </a:p>
          <a:p>
            <a:pPr lvl="0"/>
            <a:r>
              <a:rPr lang="en-IN" sz="1800" b="1" dirty="0">
                <a:solidFill>
                  <a:schemeClr val="tx1"/>
                </a:solidFill>
              </a:rPr>
              <a:t>Farmers &amp; Producer Organizations (FPOs):</a:t>
            </a:r>
            <a:r>
              <a:rPr lang="en-IN" sz="1800" dirty="0">
                <a:solidFill>
                  <a:schemeClr val="tx1"/>
                </a:solidFill>
              </a:rPr>
              <a:t> Guides crop selection per season (avoiding loss-making staples in Zaid without irrigation support) and transition from flood to drip irrigation. </a:t>
            </a:r>
          </a:p>
          <a:p>
            <a:pPr lvl="0"/>
            <a:r>
              <a:rPr lang="en-IN" sz="1800" b="1" dirty="0">
                <a:solidFill>
                  <a:schemeClr val="tx1"/>
                </a:solidFill>
              </a:rPr>
              <a:t>Government Agricultural Departments &amp; Policymakers:</a:t>
            </a:r>
            <a:r>
              <a:rPr lang="en-IN" sz="1800" dirty="0">
                <a:solidFill>
                  <a:schemeClr val="tx1"/>
                </a:solidFill>
              </a:rPr>
              <a:t> Directs seasonal Minimum Support Price (MSP) interventions, disaster/drought relief schemes for Zaid, and state-level subsidy allocations for micro-irrigation infrastructure. </a:t>
            </a:r>
          </a:p>
          <a:p>
            <a:pPr lvl="0"/>
            <a:r>
              <a:rPr lang="en-IN" sz="1800" b="1" dirty="0">
                <a:solidFill>
                  <a:schemeClr val="tx1"/>
                </a:solidFill>
              </a:rPr>
              <a:t>Agricultural Extension Officers &amp; Agronomists:</a:t>
            </a:r>
            <a:r>
              <a:rPr lang="en-IN" sz="1800" dirty="0">
                <a:solidFill>
                  <a:schemeClr val="tx1"/>
                </a:solidFill>
              </a:rPr>
              <a:t> Informs localized advisories on pest risk management (peaking in Kharif at 54.5%) and water-budgeting strategies. </a:t>
            </a:r>
          </a:p>
          <a:p>
            <a:pPr lvl="0"/>
            <a:r>
              <a:rPr lang="en-IN" sz="1800" b="1" dirty="0">
                <a:solidFill>
                  <a:schemeClr val="tx1"/>
                </a:solidFill>
              </a:rPr>
              <a:t>Rural Credit Institutions &amp; Crop Insurers:</a:t>
            </a:r>
            <a:r>
              <a:rPr lang="en-IN" sz="1800" dirty="0">
                <a:solidFill>
                  <a:schemeClr val="tx1"/>
                </a:solidFill>
              </a:rPr>
              <a:t> Provides empirical risk profiling for seasonal loan default and insurance underwriting (e.g., higher underwriting risk during Zaid where 64.5% of farms operate at a loss). </a:t>
            </a:r>
          </a:p>
          <a:p>
            <a:pPr lvl="0"/>
            <a:r>
              <a:rPr lang="en-IN" sz="1800" b="1" dirty="0">
                <a:solidFill>
                  <a:schemeClr val="tx1"/>
                </a:solidFill>
              </a:rPr>
              <a:t>Agri-Input Suppliers &amp; Supply Chain Managers:</a:t>
            </a:r>
            <a:r>
              <a:rPr lang="en-IN" sz="1800" dirty="0">
                <a:solidFill>
                  <a:schemeClr val="tx1"/>
                </a:solidFill>
              </a:rPr>
              <a:t> Guides inventory positioning for fertilizers, pesticides, and seeds aligned with seasonal demand peaks. </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85538" y="19542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8451013" y="0"/>
            <a:ext cx="1488141" cy="2653553"/>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24387" y="1174376"/>
            <a:ext cx="9027702" cy="5384131"/>
          </a:xfrm>
        </p:spPr>
        <p:txBody>
          <a:bodyPr>
            <a:normAutofit fontScale="77500" lnSpcReduction="20000"/>
          </a:bodyPr>
          <a:lstStyle/>
          <a:p>
            <a:r>
              <a:rPr lang="en-IN" b="1" dirty="0">
                <a:solidFill>
                  <a:schemeClr val="tx1"/>
                </a:solidFill>
              </a:rPr>
              <a:t>Technologies and Libraries Used</a:t>
            </a:r>
          </a:p>
          <a:p>
            <a:pPr lvl="0"/>
            <a:r>
              <a:rPr lang="en-IN" b="1" dirty="0">
                <a:solidFill>
                  <a:schemeClr val="tx1"/>
                </a:solidFill>
              </a:rPr>
              <a:t>Programming Language:</a:t>
            </a:r>
            <a:r>
              <a:rPr lang="en-IN" dirty="0">
                <a:solidFill>
                  <a:schemeClr val="tx1"/>
                </a:solidFill>
              </a:rPr>
              <a:t> Python 3 (executed in Jupyter Notebook / Google </a:t>
            </a:r>
            <a:r>
              <a:rPr lang="en-IN" dirty="0" err="1">
                <a:solidFill>
                  <a:schemeClr val="tx1"/>
                </a:solidFill>
              </a:rPr>
              <a:t>Colab</a:t>
            </a:r>
            <a:r>
              <a:rPr lang="en-IN" dirty="0">
                <a:solidFill>
                  <a:schemeClr val="tx1"/>
                </a:solidFill>
              </a:rPr>
              <a:t>). </a:t>
            </a:r>
          </a:p>
          <a:p>
            <a:pPr lvl="0"/>
            <a:r>
              <a:rPr lang="en-IN" b="1" dirty="0">
                <a:solidFill>
                  <a:schemeClr val="tx1"/>
                </a:solidFill>
              </a:rPr>
              <a:t>Pandas:</a:t>
            </a:r>
            <a:r>
              <a:rPr lang="en-IN" dirty="0">
                <a:solidFill>
                  <a:schemeClr val="tx1"/>
                </a:solidFill>
              </a:rPr>
              <a:t> Used for data ingestion (</a:t>
            </a:r>
            <a:r>
              <a:rPr lang="en-IN" dirty="0" err="1">
                <a:solidFill>
                  <a:schemeClr val="tx1"/>
                </a:solidFill>
              </a:rPr>
              <a:t>read_csv</a:t>
            </a:r>
            <a:r>
              <a:rPr lang="en-IN" dirty="0">
                <a:solidFill>
                  <a:schemeClr val="tx1"/>
                </a:solidFill>
              </a:rPr>
              <a:t>), structural audits (info, describe), median imputation, vector calculations (</a:t>
            </a:r>
            <a:r>
              <a:rPr lang="en-IN" dirty="0" err="1">
                <a:solidFill>
                  <a:schemeClr val="tx1"/>
                </a:solidFill>
              </a:rPr>
              <a:t>Profit_Margin_pct</a:t>
            </a:r>
            <a:r>
              <a:rPr lang="en-IN" dirty="0">
                <a:solidFill>
                  <a:schemeClr val="tx1"/>
                </a:solidFill>
              </a:rPr>
              <a:t>), multi-variable aggregations (</a:t>
            </a:r>
            <a:r>
              <a:rPr lang="en-IN" dirty="0" err="1">
                <a:solidFill>
                  <a:schemeClr val="tx1"/>
                </a:solidFill>
              </a:rPr>
              <a:t>groupby.agg</a:t>
            </a:r>
            <a:r>
              <a:rPr lang="en-IN" dirty="0">
                <a:solidFill>
                  <a:schemeClr val="tx1"/>
                </a:solidFill>
              </a:rPr>
              <a:t>), and pivot tables (</a:t>
            </a:r>
            <a:r>
              <a:rPr lang="en-IN" dirty="0" err="1">
                <a:solidFill>
                  <a:schemeClr val="tx1"/>
                </a:solidFill>
              </a:rPr>
              <a:t>pivot_table</a:t>
            </a:r>
            <a:r>
              <a:rPr lang="en-IN" dirty="0">
                <a:solidFill>
                  <a:schemeClr val="tx1"/>
                </a:solidFill>
              </a:rPr>
              <a:t>). </a:t>
            </a:r>
          </a:p>
          <a:p>
            <a:pPr lvl="0"/>
            <a:r>
              <a:rPr lang="en-IN" b="1" dirty="0">
                <a:solidFill>
                  <a:schemeClr val="tx1"/>
                </a:solidFill>
              </a:rPr>
              <a:t>NumPy:</a:t>
            </a:r>
            <a:r>
              <a:rPr lang="en-IN" dirty="0">
                <a:solidFill>
                  <a:schemeClr val="tx1"/>
                </a:solidFill>
              </a:rPr>
              <a:t> Used for vectorized numerical operations, random number generation (</a:t>
            </a:r>
            <a:r>
              <a:rPr lang="en-IN" dirty="0" err="1">
                <a:solidFill>
                  <a:schemeClr val="tx1"/>
                </a:solidFill>
              </a:rPr>
              <a:t>np.random.default_rng</a:t>
            </a:r>
            <a:r>
              <a:rPr lang="en-IN" dirty="0">
                <a:solidFill>
                  <a:schemeClr val="tx1"/>
                </a:solidFill>
              </a:rPr>
              <a:t>), and constructing custom 5,000-iteration two-sided permutation hypothesis tests with Bonferroni correction. </a:t>
            </a:r>
          </a:p>
          <a:p>
            <a:pPr lvl="0"/>
            <a:r>
              <a:rPr lang="en-IN" b="1" dirty="0">
                <a:solidFill>
                  <a:schemeClr val="tx1"/>
                </a:solidFill>
              </a:rPr>
              <a:t>Matplotlib (</a:t>
            </a:r>
            <a:r>
              <a:rPr lang="en-IN" b="1" dirty="0" err="1">
                <a:solidFill>
                  <a:schemeClr val="tx1"/>
                </a:solidFill>
              </a:rPr>
              <a:t>pyplot</a:t>
            </a:r>
            <a:r>
              <a:rPr lang="en-IN" b="1" dirty="0">
                <a:solidFill>
                  <a:schemeClr val="tx1"/>
                </a:solidFill>
              </a:rPr>
              <a:t>):</a:t>
            </a:r>
            <a:r>
              <a:rPr lang="en-IN" dirty="0">
                <a:solidFill>
                  <a:schemeClr val="tx1"/>
                </a:solidFill>
              </a:rPr>
              <a:t> Used for rendering multi-panel figures (subplots), bar charts, horizontal comparison plots, box-and-whisker distributions, and custom plot formatting. </a:t>
            </a:r>
          </a:p>
          <a:p>
            <a:pPr lvl="0"/>
            <a:r>
              <a:rPr lang="en-IN" b="1" dirty="0">
                <a:solidFill>
                  <a:schemeClr val="tx1"/>
                </a:solidFill>
              </a:rPr>
              <a:t>Seaborn:</a:t>
            </a:r>
            <a:r>
              <a:rPr lang="en-IN" dirty="0">
                <a:solidFill>
                  <a:schemeClr val="tx1"/>
                </a:solidFill>
              </a:rPr>
              <a:t> Used for advanced multi-variable heatmaps (correlation matrix, state-by-season profit, and crop-by-season yield) and distribution boxplots. </a:t>
            </a:r>
          </a:p>
          <a:p>
            <a:pPr lvl="0"/>
            <a:r>
              <a:rPr lang="en-IN" b="1" dirty="0" err="1">
                <a:solidFill>
                  <a:schemeClr val="tx1"/>
                </a:solidFill>
              </a:rPr>
              <a:t>Itertools</a:t>
            </a:r>
            <a:r>
              <a:rPr lang="en-IN" b="1" dirty="0">
                <a:solidFill>
                  <a:schemeClr val="tx1"/>
                </a:solidFill>
              </a:rPr>
              <a:t> (combinations):</a:t>
            </a:r>
            <a:r>
              <a:rPr lang="en-IN" dirty="0">
                <a:solidFill>
                  <a:schemeClr val="tx1"/>
                </a:solidFill>
              </a:rPr>
              <a:t> Standard library module utilized to generate pairwise seasonal combinations for permutation testing. </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324387" y="199749"/>
            <a:ext cx="5306291" cy="817616"/>
          </a:xfrm>
        </p:spPr>
        <p:txBody>
          <a:bodyPr>
            <a:normAutofit fontScale="90000"/>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036DE657-5A29-0323-06A2-6D08DDD7E9FA}"/>
              </a:ext>
            </a:extLst>
          </p:cNvPr>
          <p:cNvPicPr>
            <a:picLocks noChangeAspect="1"/>
          </p:cNvPicPr>
          <p:nvPr/>
        </p:nvPicPr>
        <p:blipFill>
          <a:blip r:embed="rId3"/>
          <a:stretch>
            <a:fillRect/>
          </a:stretch>
        </p:blipFill>
        <p:spPr>
          <a:xfrm>
            <a:off x="1099951" y="1484249"/>
            <a:ext cx="7120684" cy="308775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E40C48F1-26FB-E69C-5340-68F2C95AAAE7}"/>
              </a:ext>
            </a:extLst>
          </p:cNvPr>
          <p:cNvPicPr>
            <a:picLocks noChangeAspect="1"/>
          </p:cNvPicPr>
          <p:nvPr/>
        </p:nvPicPr>
        <p:blipFill>
          <a:blip r:embed="rId3"/>
          <a:stretch>
            <a:fillRect/>
          </a:stretch>
        </p:blipFill>
        <p:spPr>
          <a:xfrm>
            <a:off x="329947" y="1280156"/>
            <a:ext cx="5461253" cy="3865586"/>
          </a:xfrm>
          <a:prstGeom prst="rect">
            <a:avLst/>
          </a:prstGeom>
        </p:spPr>
      </p:pic>
      <p:pic>
        <p:nvPicPr>
          <p:cNvPr id="14" name="Picture 13">
            <a:extLst>
              <a:ext uri="{FF2B5EF4-FFF2-40B4-BE49-F238E27FC236}">
                <a16:creationId xmlns:a16="http://schemas.microsoft.com/office/drawing/2014/main" id="{229AF006-A39C-0A49-9E41-B5665399FD1E}"/>
              </a:ext>
            </a:extLst>
          </p:cNvPr>
          <p:cNvPicPr>
            <a:picLocks noChangeAspect="1"/>
          </p:cNvPicPr>
          <p:nvPr/>
        </p:nvPicPr>
        <p:blipFill>
          <a:blip r:embed="rId4"/>
          <a:stretch>
            <a:fillRect/>
          </a:stretch>
        </p:blipFill>
        <p:spPr>
          <a:xfrm>
            <a:off x="6017474" y="1102060"/>
            <a:ext cx="5727558" cy="448056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84201C95-AE92-46C8-515B-ECEB5250B63C}"/>
              </a:ext>
            </a:extLst>
          </p:cNvPr>
          <p:cNvPicPr>
            <a:picLocks noChangeAspect="1"/>
          </p:cNvPicPr>
          <p:nvPr/>
        </p:nvPicPr>
        <p:blipFill>
          <a:blip r:embed="rId3"/>
          <a:stretch>
            <a:fillRect/>
          </a:stretch>
        </p:blipFill>
        <p:spPr>
          <a:xfrm>
            <a:off x="202680" y="1640542"/>
            <a:ext cx="11786639" cy="455766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E681E1E3-A90C-C0C7-7972-5EB7C17DA7CF}"/>
              </a:ext>
            </a:extLst>
          </p:cNvPr>
          <p:cNvPicPr>
            <a:picLocks noChangeAspect="1"/>
          </p:cNvPicPr>
          <p:nvPr/>
        </p:nvPicPr>
        <p:blipFill>
          <a:blip r:embed="rId3"/>
          <a:stretch>
            <a:fillRect/>
          </a:stretch>
        </p:blipFill>
        <p:spPr>
          <a:xfrm>
            <a:off x="1287413" y="1173469"/>
            <a:ext cx="9043434" cy="539497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D1E9E8B6-78A3-95F1-E494-8232BB717146}"/>
              </a:ext>
            </a:extLst>
          </p:cNvPr>
          <p:cNvPicPr>
            <a:picLocks noChangeAspect="1"/>
          </p:cNvPicPr>
          <p:nvPr/>
        </p:nvPicPr>
        <p:blipFill>
          <a:blip r:embed="rId3"/>
          <a:stretch>
            <a:fillRect/>
          </a:stretch>
        </p:blipFill>
        <p:spPr>
          <a:xfrm>
            <a:off x="0" y="1067116"/>
            <a:ext cx="6466430" cy="500177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2D711-F4BA-7C78-3AEE-7D97244D9A5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7355858-63D0-7A04-4AA0-6DFA742B5A4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D353812-D301-2427-4472-1EDA40DF90E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8EC180D-1932-389D-40D0-81D4AB6592F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273F553-7EF1-F861-2442-C456C48E4DA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3E7FCE2-95A5-1DA1-5A5A-B72B4A81200E}"/>
              </a:ext>
            </a:extLst>
          </p:cNvPr>
          <p:cNvPicPr>
            <a:picLocks noChangeAspect="1"/>
          </p:cNvPicPr>
          <p:nvPr/>
        </p:nvPicPr>
        <p:blipFill>
          <a:blip r:embed="rId3"/>
          <a:stretch>
            <a:fillRect/>
          </a:stretch>
        </p:blipFill>
        <p:spPr>
          <a:xfrm>
            <a:off x="124154" y="1608410"/>
            <a:ext cx="11786639" cy="4480569"/>
          </a:xfrm>
          <a:prstGeom prst="rect">
            <a:avLst/>
          </a:prstGeom>
        </p:spPr>
      </p:pic>
    </p:spTree>
    <p:extLst>
      <p:ext uri="{BB962C8B-B14F-4D97-AF65-F5344CB8AC3E}">
        <p14:creationId xmlns:p14="http://schemas.microsoft.com/office/powerpoint/2010/main" val="2098048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AFDC4-095E-4411-3542-C5186C508B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4AB1E23-9E8B-B9D7-AA3A-820CEE7DF95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4A0A2CF-4A58-2E36-7EE7-4B70F189817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013B3C9-BF35-7A8D-5C70-3354C5BB5BD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F91C0C-656C-1A1E-57A5-71D99FD4535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4B7E2B4-2CA3-196D-493A-456A7B98EF32}"/>
              </a:ext>
            </a:extLst>
          </p:cNvPr>
          <p:cNvPicPr>
            <a:picLocks noChangeAspect="1"/>
          </p:cNvPicPr>
          <p:nvPr/>
        </p:nvPicPr>
        <p:blipFill>
          <a:blip r:embed="rId3"/>
          <a:stretch>
            <a:fillRect/>
          </a:stretch>
        </p:blipFill>
        <p:spPr>
          <a:xfrm>
            <a:off x="202680" y="1188715"/>
            <a:ext cx="11786639" cy="4480569"/>
          </a:xfrm>
          <a:prstGeom prst="rect">
            <a:avLst/>
          </a:prstGeom>
        </p:spPr>
      </p:pic>
    </p:spTree>
    <p:extLst>
      <p:ext uri="{BB962C8B-B14F-4D97-AF65-F5344CB8AC3E}">
        <p14:creationId xmlns:p14="http://schemas.microsoft.com/office/powerpoint/2010/main" val="3398071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854A1-7B34-6438-D12E-807B6DEE3F9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0AFC9A4-9086-7DA7-07D6-EF3F24934C4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CB292F8-E35C-B29B-9957-77EBC0E99E9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0BE6079-DEC9-24FF-CE1C-E36EB01BC66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118D0B8-B284-2AA5-051F-5861B7F6D54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20D0371-0630-6BB5-E08E-B57FFE85F091}"/>
              </a:ext>
            </a:extLst>
          </p:cNvPr>
          <p:cNvPicPr>
            <a:picLocks noChangeAspect="1"/>
          </p:cNvPicPr>
          <p:nvPr/>
        </p:nvPicPr>
        <p:blipFill>
          <a:blip r:embed="rId3"/>
          <a:stretch>
            <a:fillRect/>
          </a:stretch>
        </p:blipFill>
        <p:spPr>
          <a:xfrm>
            <a:off x="675957" y="1173469"/>
            <a:ext cx="10872238" cy="5394971"/>
          </a:xfrm>
          <a:prstGeom prst="rect">
            <a:avLst/>
          </a:prstGeom>
        </p:spPr>
      </p:pic>
    </p:spTree>
    <p:extLst>
      <p:ext uri="{BB962C8B-B14F-4D97-AF65-F5344CB8AC3E}">
        <p14:creationId xmlns:p14="http://schemas.microsoft.com/office/powerpoint/2010/main" val="915916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FAB86-58FA-87DA-8A10-746AF6E1074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826A608-39B8-EF91-6F0B-10A7400DDDA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CA56B5A-EAA8-09D0-DB4A-978D16F6F573}"/>
              </a:ext>
            </a:extLst>
          </p:cNvPr>
          <p:cNvSpPr>
            <a:spLocks noGrp="1"/>
          </p:cNvSpPr>
          <p:nvPr>
            <p:ph type="title"/>
          </p:nvPr>
        </p:nvSpPr>
        <p:spPr>
          <a:xfrm>
            <a:off x="93251" y="5066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C08379C-C49A-2ECA-533A-226AAA514FB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67A341-BCC7-EAF2-7929-67FAF24D76E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DD558E46-5A04-CA19-BD8C-63A5A0069A5B}"/>
              </a:ext>
            </a:extLst>
          </p:cNvPr>
          <p:cNvPicPr>
            <a:picLocks noChangeAspect="1"/>
          </p:cNvPicPr>
          <p:nvPr/>
        </p:nvPicPr>
        <p:blipFill>
          <a:blip r:embed="rId3"/>
          <a:stretch>
            <a:fillRect/>
          </a:stretch>
        </p:blipFill>
        <p:spPr>
          <a:xfrm>
            <a:off x="1992762" y="991206"/>
            <a:ext cx="8083312" cy="5400630"/>
          </a:xfrm>
          <a:prstGeom prst="rect">
            <a:avLst/>
          </a:prstGeom>
        </p:spPr>
      </p:pic>
    </p:spTree>
    <p:extLst>
      <p:ext uri="{BB962C8B-B14F-4D97-AF65-F5344CB8AC3E}">
        <p14:creationId xmlns:p14="http://schemas.microsoft.com/office/powerpoint/2010/main" val="84555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D6B5E-DF4A-08E1-A3F0-C59809E5F58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882FCA-6DB2-2E79-604E-F8DC8B9C8FF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216E592-EA0D-3F95-EDF2-F44C6D91BC01}"/>
              </a:ext>
            </a:extLst>
          </p:cNvPr>
          <p:cNvSpPr>
            <a:spLocks noGrp="1"/>
          </p:cNvSpPr>
          <p:nvPr>
            <p:ph type="title"/>
          </p:nvPr>
        </p:nvSpPr>
        <p:spPr>
          <a:xfrm>
            <a:off x="93251" y="5066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54A2495-341C-E6A9-FE89-979081BCD3E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4B20637-FF81-D8DD-F3DA-BBC957CBCD5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E32A5DB-DF2F-3F60-00B7-00D26D83A2BA}"/>
              </a:ext>
            </a:extLst>
          </p:cNvPr>
          <p:cNvPicPr>
            <a:picLocks noChangeAspect="1"/>
          </p:cNvPicPr>
          <p:nvPr/>
        </p:nvPicPr>
        <p:blipFill>
          <a:blip r:embed="rId3"/>
          <a:stretch>
            <a:fillRect/>
          </a:stretch>
        </p:blipFill>
        <p:spPr>
          <a:xfrm>
            <a:off x="1265269" y="1179123"/>
            <a:ext cx="9016002" cy="5001778"/>
          </a:xfrm>
          <a:prstGeom prst="rect">
            <a:avLst/>
          </a:prstGeom>
        </p:spPr>
      </p:pic>
    </p:spTree>
    <p:extLst>
      <p:ext uri="{BB962C8B-B14F-4D97-AF65-F5344CB8AC3E}">
        <p14:creationId xmlns:p14="http://schemas.microsoft.com/office/powerpoint/2010/main" val="2120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7306B-8754-5A59-FE00-BADB820B10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39C1FD-594C-7056-5A2F-43EB887E22D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DE04851-6213-9705-5F9C-35AD2AD36B96}"/>
              </a:ext>
            </a:extLst>
          </p:cNvPr>
          <p:cNvSpPr>
            <a:spLocks noGrp="1"/>
          </p:cNvSpPr>
          <p:nvPr>
            <p:ph type="title"/>
          </p:nvPr>
        </p:nvSpPr>
        <p:spPr>
          <a:xfrm>
            <a:off x="93251" y="5066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3B30E7A-32E6-D1B4-78FD-A64E00AFF73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DFB1E6C-18E9-C602-8AD7-B201E11D4E8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444848E-FD7B-F971-A3CD-4610D915C071}"/>
              </a:ext>
            </a:extLst>
          </p:cNvPr>
          <p:cNvPicPr>
            <a:picLocks noChangeAspect="1"/>
          </p:cNvPicPr>
          <p:nvPr/>
        </p:nvPicPr>
        <p:blipFill>
          <a:blip r:embed="rId3"/>
          <a:stretch>
            <a:fillRect/>
          </a:stretch>
        </p:blipFill>
        <p:spPr>
          <a:xfrm>
            <a:off x="202680" y="1188715"/>
            <a:ext cx="11786639" cy="4480569"/>
          </a:xfrm>
          <a:prstGeom prst="rect">
            <a:avLst/>
          </a:prstGeom>
        </p:spPr>
      </p:pic>
    </p:spTree>
    <p:extLst>
      <p:ext uri="{BB962C8B-B14F-4D97-AF65-F5344CB8AC3E}">
        <p14:creationId xmlns:p14="http://schemas.microsoft.com/office/powerpoint/2010/main" val="202946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C7178-CDF8-E6C3-0356-92BAFF863E8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71068FE-4474-685E-CE28-70FF4C25DAE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AC06436-73BA-4BF5-28D7-B980189A5F00}"/>
              </a:ext>
            </a:extLst>
          </p:cNvPr>
          <p:cNvSpPr>
            <a:spLocks noGrp="1"/>
          </p:cNvSpPr>
          <p:nvPr>
            <p:ph type="title"/>
          </p:nvPr>
        </p:nvSpPr>
        <p:spPr>
          <a:xfrm>
            <a:off x="93251" y="5066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8CA00FB-0735-011D-6D49-0A7F5950DC8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22B6535-CD56-C4F3-9B57-A5E2F6FECC7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A2ABC3E-A358-6D6E-82B6-A361B6FFD033}"/>
              </a:ext>
            </a:extLst>
          </p:cNvPr>
          <p:cNvPicPr>
            <a:picLocks noChangeAspect="1"/>
          </p:cNvPicPr>
          <p:nvPr/>
        </p:nvPicPr>
        <p:blipFill>
          <a:blip r:embed="rId3"/>
          <a:stretch>
            <a:fillRect/>
          </a:stretch>
        </p:blipFill>
        <p:spPr>
          <a:xfrm>
            <a:off x="202680" y="1188715"/>
            <a:ext cx="11786639" cy="4480569"/>
          </a:xfrm>
          <a:prstGeom prst="rect">
            <a:avLst/>
          </a:prstGeom>
        </p:spPr>
      </p:pic>
    </p:spTree>
    <p:extLst>
      <p:ext uri="{BB962C8B-B14F-4D97-AF65-F5344CB8AC3E}">
        <p14:creationId xmlns:p14="http://schemas.microsoft.com/office/powerpoint/2010/main" val="192524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164969" y="69819"/>
            <a:ext cx="8596668" cy="665287"/>
          </a:xfrm>
        </p:spPr>
        <p:txBody>
          <a:bodyPr>
            <a:noAutofit/>
          </a:bodyPr>
          <a:lstStyle/>
          <a:p>
            <a:r>
              <a:rPr lang="en-IN" sz="4000" dirty="0">
                <a:solidFill>
                  <a:schemeClr val="tx1"/>
                </a:solidFill>
              </a:rPr>
              <a:t>Future scope</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7FD81AA-C24C-F519-B55D-C06E6BAE2D66}"/>
                  </a:ext>
                </a:extLst>
              </p:cNvPr>
              <p:cNvSpPr>
                <a:spLocks noGrp="1"/>
              </p:cNvSpPr>
              <p:nvPr>
                <p:ph idx="1"/>
              </p:nvPr>
            </p:nvSpPr>
            <p:spPr>
              <a:xfrm>
                <a:off x="164969" y="815788"/>
                <a:ext cx="11229172" cy="5919825"/>
              </a:xfrm>
            </p:spPr>
            <p:txBody>
              <a:bodyPr>
                <a:noAutofit/>
              </a:bodyPr>
              <a:lstStyle/>
              <a:p>
                <a:pPr marL="0" indent="0">
                  <a:buNone/>
                </a:pPr>
                <a:r>
                  <a:rPr lang="en-IN" sz="1200" b="1" dirty="0">
                    <a:solidFill>
                      <a:schemeClr val="tx1"/>
                    </a:solidFill>
                  </a:rPr>
                  <a:t>1. </a:t>
                </a:r>
                <a:r>
                  <a:rPr lang="en-IN" sz="1200" b="1" u="dotted" dirty="0">
                    <a:solidFill>
                      <a:schemeClr val="tx1"/>
                    </a:solidFill>
                  </a:rPr>
                  <a:t>Machine Learning &amp; Predictive </a:t>
                </a:r>
                <a:r>
                  <a:rPr lang="en-IN" sz="1200" b="1" u="dotted" dirty="0" err="1">
                    <a:solidFill>
                      <a:schemeClr val="tx1"/>
                    </a:solidFill>
                  </a:rPr>
                  <a:t>Modeling</a:t>
                </a:r>
                <a:endParaRPr lang="en-IN" sz="1200" u="dotted" dirty="0">
                  <a:solidFill>
                    <a:schemeClr val="tx1"/>
                  </a:solidFill>
                </a:endParaRPr>
              </a:p>
              <a:p>
                <a:r>
                  <a:rPr lang="en-IN" sz="1200" b="1" u="dotted" dirty="0">
                    <a:solidFill>
                      <a:schemeClr val="tx1"/>
                    </a:solidFill>
                  </a:rPr>
                  <a:t>Crop Recommendation</a:t>
                </a:r>
                <a:r>
                  <a:rPr lang="en-IN" sz="1200" b="1" dirty="0">
                    <a:solidFill>
                      <a:schemeClr val="tx1"/>
                    </a:solidFill>
                  </a:rPr>
                  <a:t>:</a:t>
                </a:r>
                <a:r>
                  <a:rPr lang="en-IN" sz="1200" dirty="0">
                    <a:solidFill>
                      <a:schemeClr val="tx1"/>
                    </a:solidFill>
                  </a:rPr>
                  <a:t> Build classification models (Random Forest, </a:t>
                </a:r>
                <a:r>
                  <a:rPr lang="en-IN" sz="1200" dirty="0" err="1">
                    <a:solidFill>
                      <a:schemeClr val="tx1"/>
                    </a:solidFill>
                  </a:rPr>
                  <a:t>XGBoost</a:t>
                </a:r>
                <a:r>
                  <a:rPr lang="en-IN" sz="1200" dirty="0">
                    <a:solidFill>
                      <a:schemeClr val="tx1"/>
                    </a:solidFill>
                  </a:rPr>
                  <a:t>) to suggest optimal crops based on soil nutrients (</a:t>
                </a:r>
                <a14:m>
                  <m:oMath xmlns:m="http://schemas.openxmlformats.org/officeDocument/2006/math">
                    <m:r>
                      <m:rPr>
                        <m:nor/>
                      </m:rPr>
                      <a:rPr lang="en-IN" sz="1200" i="0">
                        <a:solidFill>
                          <a:schemeClr val="tx1"/>
                        </a:solidFill>
                      </a:rPr>
                      <m:t>N, P, K, pH</m:t>
                    </m:r>
                  </m:oMath>
                </a14:m>
                <a:r>
                  <a:rPr lang="en-IN" sz="1200" dirty="0">
                    <a:solidFill>
                      <a:schemeClr val="tx1"/>
                    </a:solidFill>
                  </a:rPr>
                  <a:t>), farm size, and seasonal weather.</a:t>
                </a:r>
              </a:p>
              <a:p>
                <a:pPr lvl="0"/>
                <a:r>
                  <a:rPr lang="en-IN" sz="1200" b="1" u="dotted" dirty="0">
                    <a:solidFill>
                      <a:schemeClr val="tx1"/>
                    </a:solidFill>
                  </a:rPr>
                  <a:t>Yield &amp; Profit Forecasting</a:t>
                </a:r>
                <a:r>
                  <a:rPr lang="en-IN" sz="1200" b="1" dirty="0">
                    <a:solidFill>
                      <a:schemeClr val="tx1"/>
                    </a:solidFill>
                  </a:rPr>
                  <a:t>:</a:t>
                </a:r>
                <a:r>
                  <a:rPr lang="en-IN" sz="1200" dirty="0">
                    <a:solidFill>
                      <a:schemeClr val="tx1"/>
                    </a:solidFill>
                  </a:rPr>
                  <a:t> Deploy regression pipelines to predict expected yield and net margins before sowing for proactive financial planning.</a:t>
                </a:r>
              </a:p>
              <a:p>
                <a:pPr lvl="0"/>
                <a:r>
                  <a:rPr lang="en-IN" sz="1200" b="1" u="dotted" dirty="0">
                    <a:solidFill>
                      <a:schemeClr val="tx1"/>
                    </a:solidFill>
                  </a:rPr>
                  <a:t>Pest &amp; Disease Alerts</a:t>
                </a:r>
                <a:r>
                  <a:rPr lang="en-IN" sz="1200" b="1" dirty="0">
                    <a:solidFill>
                      <a:schemeClr val="tx1"/>
                    </a:solidFill>
                  </a:rPr>
                  <a:t>:</a:t>
                </a:r>
                <a:r>
                  <a:rPr lang="en-IN" sz="1200" dirty="0">
                    <a:solidFill>
                      <a:schemeClr val="tx1"/>
                    </a:solidFill>
                  </a:rPr>
                  <a:t> Train classifiers on humidity, rainfall, and temperature trends to flag outbreak risks weeks in advance.</a:t>
                </a:r>
              </a:p>
              <a:p>
                <a:pPr marL="0" indent="0">
                  <a:buNone/>
                </a:pPr>
                <a:r>
                  <a:rPr lang="en-IN" sz="1200" b="1" dirty="0">
                    <a:solidFill>
                      <a:schemeClr val="tx1"/>
                    </a:solidFill>
                  </a:rPr>
                  <a:t>2. </a:t>
                </a:r>
                <a:r>
                  <a:rPr lang="en-IN" sz="1200" b="1" u="dotted" dirty="0">
                    <a:solidFill>
                      <a:schemeClr val="tx1"/>
                    </a:solidFill>
                  </a:rPr>
                  <a:t>Causal Inference &amp; Economic Impact</a:t>
                </a:r>
                <a:endParaRPr lang="en-IN" sz="1200" u="dotted" dirty="0">
                  <a:solidFill>
                    <a:schemeClr val="tx1"/>
                  </a:solidFill>
                </a:endParaRPr>
              </a:p>
              <a:p>
                <a:pPr lvl="0"/>
                <a:r>
                  <a:rPr lang="en-IN" sz="1200" b="1" u="dotted" dirty="0">
                    <a:solidFill>
                      <a:schemeClr val="tx1"/>
                    </a:solidFill>
                  </a:rPr>
                  <a:t>Causal Impact Analysis</a:t>
                </a:r>
                <a:r>
                  <a:rPr lang="en-IN" sz="1200" b="1" dirty="0">
                    <a:solidFill>
                      <a:schemeClr val="tx1"/>
                    </a:solidFill>
                  </a:rPr>
                  <a:t>:</a:t>
                </a:r>
                <a:r>
                  <a:rPr lang="en-IN" sz="1200" dirty="0">
                    <a:solidFill>
                      <a:schemeClr val="tx1"/>
                    </a:solidFill>
                  </a:rPr>
                  <a:t> Apply causal frameworks (e.g., Propensity Score Matching) to isolate the true yield and profit benefits of drip versus flood irrigation.</a:t>
                </a:r>
              </a:p>
              <a:p>
                <a:pPr lvl="0"/>
                <a:r>
                  <a:rPr lang="en-IN" sz="1200" b="1" u="dotted" dirty="0">
                    <a:solidFill>
                      <a:schemeClr val="tx1"/>
                    </a:solidFill>
                  </a:rPr>
                  <a:t>Cost-Benefit Simulations</a:t>
                </a:r>
                <a:r>
                  <a:rPr lang="en-IN" sz="1200" b="1" dirty="0">
                    <a:solidFill>
                      <a:schemeClr val="tx1"/>
                    </a:solidFill>
                  </a:rPr>
                  <a:t>:</a:t>
                </a:r>
                <a:r>
                  <a:rPr lang="en-IN" sz="1200" dirty="0">
                    <a:solidFill>
                      <a:schemeClr val="tx1"/>
                    </a:solidFill>
                  </a:rPr>
                  <a:t> Model payback timelines and ROI for smallholders transitioning to micro-irrigation or hybrid seeds.</a:t>
                </a:r>
              </a:p>
              <a:p>
                <a:pPr marL="0" indent="0">
                  <a:buNone/>
                </a:pPr>
                <a:r>
                  <a:rPr lang="en-IN" sz="1200" b="1" dirty="0">
                    <a:solidFill>
                      <a:schemeClr val="tx1"/>
                    </a:solidFill>
                  </a:rPr>
                  <a:t>3. </a:t>
                </a:r>
                <a:r>
                  <a:rPr lang="en-IN" sz="1200" b="1" u="dotted" dirty="0">
                    <a:solidFill>
                      <a:schemeClr val="tx1"/>
                    </a:solidFill>
                  </a:rPr>
                  <a:t>Data Expansion &amp; Real-Time Ingestion</a:t>
                </a:r>
                <a:endParaRPr lang="en-IN" sz="1200" u="dotted" dirty="0">
                  <a:solidFill>
                    <a:schemeClr val="tx1"/>
                  </a:solidFill>
                </a:endParaRPr>
              </a:p>
              <a:p>
                <a:pPr lvl="0"/>
                <a:r>
                  <a:rPr lang="en-IN" sz="1200" b="1" u="dotted" dirty="0">
                    <a:solidFill>
                      <a:schemeClr val="tx1"/>
                    </a:solidFill>
                  </a:rPr>
                  <a:t>Satellite Remote Sensing</a:t>
                </a:r>
                <a:r>
                  <a:rPr lang="en-IN" sz="1200" b="1" dirty="0">
                    <a:solidFill>
                      <a:schemeClr val="tx1"/>
                    </a:solidFill>
                  </a:rPr>
                  <a:t>:</a:t>
                </a:r>
                <a:r>
                  <a:rPr lang="en-IN" sz="1200" dirty="0">
                    <a:solidFill>
                      <a:schemeClr val="tx1"/>
                    </a:solidFill>
                  </a:rPr>
                  <a:t> Integrate Sentinel-2 or Landsat imagery to monitor live crop health via vegetation indices (NDVI/EVI).</a:t>
                </a:r>
              </a:p>
              <a:p>
                <a:pPr lvl="0"/>
                <a:r>
                  <a:rPr lang="en-IN" sz="1200" b="1" u="dotted" dirty="0">
                    <a:solidFill>
                      <a:schemeClr val="tx1"/>
                    </a:solidFill>
                  </a:rPr>
                  <a:t>Live Market APIs</a:t>
                </a:r>
                <a:r>
                  <a:rPr lang="en-IN" sz="1200" b="1" dirty="0">
                    <a:solidFill>
                      <a:schemeClr val="tx1"/>
                    </a:solidFill>
                  </a:rPr>
                  <a:t>:</a:t>
                </a:r>
                <a:r>
                  <a:rPr lang="en-IN" sz="1200" dirty="0">
                    <a:solidFill>
                      <a:schemeClr val="tx1"/>
                    </a:solidFill>
                  </a:rPr>
                  <a:t> Connect to real-time mandi price feeds (e.g., </a:t>
                </a:r>
                <a:r>
                  <a:rPr lang="en-IN" sz="1200" dirty="0" err="1">
                    <a:solidFill>
                      <a:schemeClr val="tx1"/>
                    </a:solidFill>
                  </a:rPr>
                  <a:t>Agmarknet</a:t>
                </a:r>
                <a:r>
                  <a:rPr lang="en-IN" sz="1200" dirty="0">
                    <a:solidFill>
                      <a:schemeClr val="tx1"/>
                    </a:solidFill>
                  </a:rPr>
                  <a:t>) to provide dynamic harvesting and selling advisories.</a:t>
                </a:r>
              </a:p>
              <a:p>
                <a:pPr lvl="0"/>
                <a:r>
                  <a:rPr lang="en-IN" sz="1200" b="1" u="dotted" dirty="0">
                    <a:solidFill>
                      <a:schemeClr val="tx1"/>
                    </a:solidFill>
                  </a:rPr>
                  <a:t>IoT Sensor Telemetry</a:t>
                </a:r>
                <a:r>
                  <a:rPr lang="en-IN" sz="1200" b="1" dirty="0">
                    <a:solidFill>
                      <a:schemeClr val="tx1"/>
                    </a:solidFill>
                  </a:rPr>
                  <a:t>:</a:t>
                </a:r>
                <a:r>
                  <a:rPr lang="en-IN" sz="1200" dirty="0">
                    <a:solidFill>
                      <a:schemeClr val="tx1"/>
                    </a:solidFill>
                  </a:rPr>
                  <a:t> Ingest continuous ground-sensor data tracking soil moisture depletion and local microclimates.</a:t>
                </a:r>
              </a:p>
              <a:p>
                <a:pPr marL="0" indent="0">
                  <a:buNone/>
                </a:pPr>
                <a:r>
                  <a:rPr lang="en-IN" sz="1200" b="1" dirty="0">
                    <a:solidFill>
                      <a:schemeClr val="tx1"/>
                    </a:solidFill>
                  </a:rPr>
                  <a:t>4. </a:t>
                </a:r>
                <a:r>
                  <a:rPr lang="en-IN" sz="1200" b="1" u="dotted" dirty="0">
                    <a:solidFill>
                      <a:schemeClr val="tx1"/>
                    </a:solidFill>
                  </a:rPr>
                  <a:t>Deployment &amp; Decision Support</a:t>
                </a:r>
                <a:endParaRPr lang="en-IN" sz="1200" u="dotted" dirty="0">
                  <a:solidFill>
                    <a:schemeClr val="tx1"/>
                  </a:solidFill>
                </a:endParaRPr>
              </a:p>
              <a:p>
                <a:pPr lvl="0"/>
                <a:r>
                  <a:rPr lang="en-IN" sz="1200" b="1" u="dotted" dirty="0">
                    <a:solidFill>
                      <a:schemeClr val="tx1"/>
                    </a:solidFill>
                  </a:rPr>
                  <a:t>Interactive Dashboards</a:t>
                </a:r>
                <a:r>
                  <a:rPr lang="en-IN" sz="1200" b="1" dirty="0">
                    <a:solidFill>
                      <a:schemeClr val="tx1"/>
                    </a:solidFill>
                  </a:rPr>
                  <a:t>:</a:t>
                </a:r>
                <a:r>
                  <a:rPr lang="en-IN" sz="1200" dirty="0">
                    <a:solidFill>
                      <a:schemeClr val="tx1"/>
                    </a:solidFill>
                  </a:rPr>
                  <a:t> Develop web-based BI platforms (</a:t>
                </a:r>
                <a:r>
                  <a:rPr lang="en-IN" sz="1200" dirty="0" err="1">
                    <a:solidFill>
                      <a:schemeClr val="tx1"/>
                    </a:solidFill>
                  </a:rPr>
                  <a:t>Streamlit</a:t>
                </a:r>
                <a:r>
                  <a:rPr lang="en-IN" sz="1200" dirty="0">
                    <a:solidFill>
                      <a:schemeClr val="tx1"/>
                    </a:solidFill>
                  </a:rPr>
                  <a:t>, Power BI) for agricultural officers, insurers, and cooperatives.</a:t>
                </a:r>
              </a:p>
              <a:p>
                <a:pPr lvl="0"/>
                <a:r>
                  <a:rPr lang="en-IN" sz="1200" b="1" u="dotted" dirty="0">
                    <a:solidFill>
                      <a:schemeClr val="tx1"/>
                    </a:solidFill>
                  </a:rPr>
                  <a:t>Multilingual Mobile Advisories</a:t>
                </a:r>
                <a:r>
                  <a:rPr lang="en-IN" sz="1200" b="1" dirty="0">
                    <a:solidFill>
                      <a:schemeClr val="tx1"/>
                    </a:solidFill>
                  </a:rPr>
                  <a:t>:</a:t>
                </a:r>
                <a:r>
                  <a:rPr lang="en-IN" sz="1200" dirty="0">
                    <a:solidFill>
                      <a:schemeClr val="tx1"/>
                    </a:solidFill>
                  </a:rPr>
                  <a:t> Deliver localized recommendations on sowing windows, water rationing, and pest management via SMS, WhatsApp, or mobile apps.</a:t>
                </a:r>
              </a:p>
              <a:p>
                <a:pPr marL="0" indent="0">
                  <a:buNone/>
                </a:pPr>
                <a:r>
                  <a:rPr lang="en-IN" sz="1200" b="1" dirty="0">
                    <a:solidFill>
                      <a:schemeClr val="tx1"/>
                    </a:solidFill>
                  </a:rPr>
                  <a:t>5. </a:t>
                </a:r>
                <a:r>
                  <a:rPr lang="en-IN" sz="1200" b="1" u="dotted" dirty="0">
                    <a:solidFill>
                      <a:schemeClr val="tx1"/>
                    </a:solidFill>
                  </a:rPr>
                  <a:t>Sustainability &amp; Resource Optimization</a:t>
                </a:r>
                <a:endParaRPr lang="en-IN" sz="1200" u="dotted" dirty="0">
                  <a:solidFill>
                    <a:schemeClr val="tx1"/>
                  </a:solidFill>
                </a:endParaRPr>
              </a:p>
              <a:p>
                <a:pPr lvl="0"/>
                <a:r>
                  <a:rPr lang="en-IN" sz="1200" b="1" u="dotted" dirty="0">
                    <a:solidFill>
                      <a:schemeClr val="tx1"/>
                    </a:solidFill>
                  </a:rPr>
                  <a:t>Precision Input Scheduling</a:t>
                </a:r>
                <a:r>
                  <a:rPr lang="en-IN" sz="1200" b="1" dirty="0">
                    <a:solidFill>
                      <a:schemeClr val="tx1"/>
                    </a:solidFill>
                  </a:rPr>
                  <a:t>:</a:t>
                </a:r>
                <a:r>
                  <a:rPr lang="en-IN" sz="1200" dirty="0">
                    <a:solidFill>
                      <a:schemeClr val="tx1"/>
                    </a:solidFill>
                  </a:rPr>
                  <a:t> Use optimization algorithms to calculate minimum water and fertilizer application schedules that maximize yield.</a:t>
                </a:r>
              </a:p>
              <a:p>
                <a:pPr lvl="0"/>
                <a:r>
                  <a:rPr lang="en-IN" sz="1200" b="1" u="dotted" dirty="0">
                    <a:solidFill>
                      <a:schemeClr val="tx1"/>
                    </a:solidFill>
                  </a:rPr>
                  <a:t>Footprint Accounting</a:t>
                </a:r>
                <a:r>
                  <a:rPr lang="en-IN" sz="1200" b="1" dirty="0">
                    <a:solidFill>
                      <a:schemeClr val="tx1"/>
                    </a:solidFill>
                  </a:rPr>
                  <a:t>:</a:t>
                </a:r>
                <a:r>
                  <a:rPr lang="en-IN" sz="1200" dirty="0">
                    <a:solidFill>
                      <a:schemeClr val="tx1"/>
                    </a:solidFill>
                  </a:rPr>
                  <a:t> Measure greenhouse gas emissions and water depletion rates to support sustainable farming and ESG compliance.</a:t>
                </a:r>
              </a:p>
            </p:txBody>
          </p:sp>
        </mc:Choice>
        <mc:Fallback xmlns="">
          <p:sp>
            <p:nvSpPr>
              <p:cNvPr id="2" name="Content Placeholder 1">
                <a:extLst>
                  <a:ext uri="{FF2B5EF4-FFF2-40B4-BE49-F238E27FC236}">
                    <a16:creationId xmlns:a16="http://schemas.microsoft.com/office/drawing/2014/main" id="{67FD81AA-C24C-F519-B55D-C06E6BAE2D66}"/>
                  </a:ext>
                </a:extLst>
              </p:cNvPr>
              <p:cNvSpPr>
                <a:spLocks noGrp="1" noRot="1" noChangeAspect="1" noMove="1" noResize="1" noEditPoints="1" noAdjustHandles="1" noChangeArrowheads="1" noChangeShapeType="1" noTextEdit="1"/>
              </p:cNvSpPr>
              <p:nvPr>
                <p:ph idx="1"/>
              </p:nvPr>
            </p:nvSpPr>
            <p:spPr>
              <a:xfrm>
                <a:off x="164969" y="815788"/>
                <a:ext cx="11229172" cy="5919825"/>
              </a:xfrm>
              <a:blipFill>
                <a:blip r:embed="rId3"/>
                <a:stretch>
                  <a:fillRect t="-103"/>
                </a:stretch>
              </a:blipFill>
            </p:spPr>
            <p:txBody>
              <a:bodyPr/>
              <a:lstStyle/>
              <a:p>
                <a:r>
                  <a:rPr lang="en-IN">
                    <a:noFill/>
                  </a:rPr>
                  <a:t> </a:t>
                </a:r>
              </a:p>
            </p:txBody>
          </p:sp>
        </mc:Fallback>
      </mc:AlternateContent>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164969" y="923680"/>
            <a:ext cx="9498984" cy="5841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CF8A944F-8F35-74FF-6A94-1F4194C83FB8}"/>
              </a:ext>
            </a:extLst>
          </p:cNvPr>
          <p:cNvSpPr txBox="1"/>
          <p:nvPr/>
        </p:nvSpPr>
        <p:spPr>
          <a:xfrm>
            <a:off x="675957" y="2120306"/>
            <a:ext cx="8916278" cy="369332"/>
          </a:xfrm>
          <a:prstGeom prst="rect">
            <a:avLst/>
          </a:prstGeom>
          <a:noFill/>
        </p:spPr>
        <p:txBody>
          <a:bodyPr wrap="square">
            <a:spAutoFit/>
          </a:bodyPr>
          <a:lstStyle/>
          <a:p>
            <a:r>
              <a:rPr lang="en-IN" dirty="0">
                <a:solidFill>
                  <a:schemeClr val="accent2"/>
                </a:solidFill>
                <a:hlinkClick r:id="rId3">
                  <a:extLst>
                    <a:ext uri="{A12FA001-AC4F-418D-AE19-62706E023703}">
                      <ahyp:hlinkClr xmlns:ahyp="http://schemas.microsoft.com/office/drawing/2018/hyperlinkcolor" val="tx"/>
                    </a:ext>
                  </a:extLst>
                </a:hlinkClick>
              </a:rPr>
              <a:t>https://github.com/Sigchi98/Seasonal-Agriculture-Performance-Analysis.git</a:t>
            </a:r>
            <a:endParaRPr lang="en-IN" dirty="0">
              <a:solidFill>
                <a:schemeClr val="accent2"/>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513440" y="7874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6D4D1C06-BEED-D835-CCE1-3B5C4B337830}"/>
              </a:ext>
            </a:extLst>
          </p:cNvPr>
          <p:cNvPicPr>
            <a:picLocks noChangeAspect="1"/>
          </p:cNvPicPr>
          <p:nvPr/>
        </p:nvPicPr>
        <p:blipFill>
          <a:blip r:embed="rId3"/>
          <a:stretch>
            <a:fillRect/>
          </a:stretch>
        </p:blipFill>
        <p:spPr>
          <a:xfrm>
            <a:off x="675957" y="1156447"/>
            <a:ext cx="8351388" cy="570155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9482965"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460942" y="1828800"/>
            <a:ext cx="7512424" cy="3774141"/>
          </a:xfrm>
        </p:spPr>
        <p:txBody>
          <a:bodyPr>
            <a:normAutofit fontScale="85000" lnSpcReduction="20000"/>
          </a:bodyPr>
          <a:lstStyle/>
          <a:p>
            <a:pPr lvl="0" algn="l"/>
            <a:r>
              <a:rPr lang="en-IN" u="sng" dirty="0">
                <a:solidFill>
                  <a:schemeClr val="tx1"/>
                </a:solidFill>
              </a:rPr>
              <a:t>Presenter</a:t>
            </a:r>
            <a:r>
              <a:rPr lang="en-IN" dirty="0">
                <a:solidFill>
                  <a:schemeClr val="tx1"/>
                </a:solidFill>
              </a:rPr>
              <a:t>: </a:t>
            </a:r>
            <a:r>
              <a:rPr lang="en-IN" b="0" dirty="0">
                <a:solidFill>
                  <a:schemeClr val="tx1"/>
                </a:solidFill>
              </a:rPr>
              <a:t>Mohit Sigchi </a:t>
            </a:r>
          </a:p>
          <a:p>
            <a:pPr lvl="0" algn="l"/>
            <a:r>
              <a:rPr lang="en-IN" u="sng" dirty="0">
                <a:solidFill>
                  <a:schemeClr val="tx1"/>
                </a:solidFill>
              </a:rPr>
              <a:t>AICTE Student ID</a:t>
            </a:r>
            <a:r>
              <a:rPr lang="en-IN" dirty="0">
                <a:solidFill>
                  <a:schemeClr val="tx1"/>
                </a:solidFill>
              </a:rPr>
              <a:t>: </a:t>
            </a:r>
            <a:r>
              <a:rPr lang="en-IN" b="0" dirty="0">
                <a:solidFill>
                  <a:schemeClr val="tx1"/>
                </a:solidFill>
              </a:rPr>
              <a:t>STU605da1eeefcd61616749038 </a:t>
            </a:r>
          </a:p>
          <a:p>
            <a:pPr lvl="0" algn="l"/>
            <a:r>
              <a:rPr lang="en-IN" u="sng" dirty="0">
                <a:solidFill>
                  <a:schemeClr val="tx1"/>
                </a:solidFill>
              </a:rPr>
              <a:t>Program</a:t>
            </a:r>
            <a:r>
              <a:rPr lang="en-IN" dirty="0">
                <a:solidFill>
                  <a:schemeClr val="tx1"/>
                </a:solidFill>
              </a:rPr>
              <a:t>: </a:t>
            </a:r>
            <a:r>
              <a:rPr lang="en-IN" b="0" dirty="0">
                <a:solidFill>
                  <a:schemeClr val="tx1"/>
                </a:solidFill>
              </a:rPr>
              <a:t>VOIS AICTE Data Analytics Internship (10th Aug 2026 to 10th Sept 2026)</a:t>
            </a:r>
          </a:p>
          <a:p>
            <a:pPr lvl="0" algn="l"/>
            <a:r>
              <a:rPr lang="en-IN" u="sng" dirty="0">
                <a:solidFill>
                  <a:schemeClr val="tx1"/>
                </a:solidFill>
              </a:rPr>
              <a:t>Project</a:t>
            </a:r>
            <a:r>
              <a:rPr lang="en-IN" dirty="0">
                <a:solidFill>
                  <a:schemeClr val="tx1"/>
                </a:solidFill>
              </a:rPr>
              <a:t>: </a:t>
            </a:r>
            <a:r>
              <a:rPr lang="en-IN" b="0" dirty="0">
                <a:solidFill>
                  <a:schemeClr val="tx1"/>
                </a:solidFill>
              </a:rPr>
              <a:t>Seasonal Agriculture Performance Analysis </a:t>
            </a:r>
          </a:p>
          <a:p>
            <a:pPr lvl="0" algn="l"/>
            <a:r>
              <a:rPr lang="en-IN" u="sng" dirty="0">
                <a:solidFill>
                  <a:schemeClr val="tx1"/>
                </a:solidFill>
              </a:rPr>
              <a:t>Contact</a:t>
            </a:r>
            <a:r>
              <a:rPr lang="en-IN" dirty="0">
                <a:solidFill>
                  <a:schemeClr val="tx1"/>
                </a:solidFill>
              </a:rPr>
              <a:t>: </a:t>
            </a:r>
            <a:r>
              <a:rPr lang="en-IN" b="0" dirty="0">
                <a:solidFill>
                  <a:schemeClr val="tx1"/>
                </a:solidFill>
              </a:rPr>
              <a:t>AICTE EMAIL</a:t>
            </a:r>
            <a:r>
              <a:rPr lang="en-IN" dirty="0">
                <a:solidFill>
                  <a:srgbClr val="7030A0"/>
                </a:solidFill>
              </a:rPr>
              <a:t>: </a:t>
            </a:r>
            <a:r>
              <a:rPr lang="en-IN" dirty="0">
                <a:solidFill>
                  <a:srgbClr val="7030A0"/>
                </a:solidFill>
                <a:hlinkClick r:id="rId3">
                  <a:extLst>
                    <a:ext uri="{A12FA001-AC4F-418D-AE19-62706E023703}">
                      <ahyp:hlinkClr xmlns:ahyp="http://schemas.microsoft.com/office/drawing/2018/hyperlinkcolor" val="tx"/>
                    </a:ext>
                  </a:extLst>
                </a:hlinkClick>
              </a:rPr>
              <a:t>ms2239@cse.jgec.ac.in</a:t>
            </a:r>
            <a:r>
              <a:rPr lang="en-IN" dirty="0">
                <a:solidFill>
                  <a:schemeClr val="tx1"/>
                </a:solidFill>
              </a:rPr>
              <a:t> |</a:t>
            </a:r>
          </a:p>
          <a:p>
            <a:pPr lvl="0" algn="l"/>
            <a:r>
              <a:rPr lang="en-IN" b="0" dirty="0">
                <a:solidFill>
                  <a:schemeClr val="tx1"/>
                </a:solidFill>
              </a:rPr>
              <a:t>VOIS LMS EMAIL</a:t>
            </a:r>
            <a:r>
              <a:rPr lang="en-IN" dirty="0">
                <a:solidFill>
                  <a:schemeClr val="tx1"/>
                </a:solidFill>
              </a:rPr>
              <a:t>: </a:t>
            </a:r>
            <a:r>
              <a:rPr lang="en-IN" dirty="0">
                <a:solidFill>
                  <a:srgbClr val="7030A0"/>
                </a:solidFill>
                <a:hlinkClick r:id="rId4">
                  <a:extLst>
                    <a:ext uri="{A12FA001-AC4F-418D-AE19-62706E023703}">
                      <ahyp:hlinkClr xmlns:ahyp="http://schemas.microsoft.com/office/drawing/2018/hyperlinkcolor" val="tx"/>
                    </a:ext>
                  </a:extLst>
                </a:hlinkClick>
              </a:rPr>
              <a:t>mohitsigchi@gmail.com</a:t>
            </a:r>
            <a:r>
              <a:rPr lang="en-IN" dirty="0">
                <a:solidFill>
                  <a:srgbClr val="7030A0"/>
                </a:solidFill>
              </a:rPr>
              <a:t> </a:t>
            </a:r>
            <a:r>
              <a:rPr lang="en-IN" dirty="0">
                <a:solidFill>
                  <a:schemeClr val="tx1"/>
                </a:solidFill>
              </a:rPr>
              <a:t>|</a:t>
            </a:r>
          </a:p>
          <a:p>
            <a:pPr lvl="0" algn="l"/>
            <a:r>
              <a:rPr lang="en-IN" b="0" dirty="0" err="1">
                <a:solidFill>
                  <a:schemeClr val="tx1"/>
                </a:solidFill>
              </a:rPr>
              <a:t>Linkedin</a:t>
            </a:r>
            <a:r>
              <a:rPr lang="en-IN" dirty="0">
                <a:solidFill>
                  <a:srgbClr val="7030A0"/>
                </a:solidFill>
              </a:rPr>
              <a:t>:  </a:t>
            </a:r>
            <a:r>
              <a:rPr lang="en-IN" dirty="0">
                <a:solidFill>
                  <a:srgbClr val="7030A0"/>
                </a:solidFill>
                <a:hlinkClick r:id="rId5">
                  <a:extLst>
                    <a:ext uri="{A12FA001-AC4F-418D-AE19-62706E023703}">
                      <ahyp:hlinkClr xmlns:ahyp="http://schemas.microsoft.com/office/drawing/2018/hyperlinkcolor" val="tx"/>
                    </a:ext>
                  </a:extLst>
                </a:hlinkClick>
              </a:rPr>
              <a:t>linkedin.com/in/</a:t>
            </a:r>
            <a:r>
              <a:rPr lang="en-IN" dirty="0" err="1">
                <a:solidFill>
                  <a:srgbClr val="7030A0"/>
                </a:solidFill>
                <a:hlinkClick r:id="rId5">
                  <a:extLst>
                    <a:ext uri="{A12FA001-AC4F-418D-AE19-62706E023703}">
                      <ahyp:hlinkClr xmlns:ahyp="http://schemas.microsoft.com/office/drawing/2018/hyperlinkcolor" val="tx"/>
                    </a:ext>
                  </a:extLst>
                </a:hlinkClick>
              </a:rPr>
              <a:t>mohitsigchi</a:t>
            </a:r>
            <a:r>
              <a:rPr lang="en-IN" dirty="0">
                <a:solidFill>
                  <a:schemeClr val="tx1"/>
                </a:solidFill>
              </a:rPr>
              <a:t>|</a:t>
            </a:r>
          </a:p>
          <a:p>
            <a:pPr lvl="0" algn="l"/>
            <a:r>
              <a:rPr lang="en-IN" b="0" dirty="0" err="1">
                <a:solidFill>
                  <a:schemeClr val="tx1"/>
                </a:solidFill>
              </a:rPr>
              <a:t>Github</a:t>
            </a:r>
            <a:r>
              <a:rPr lang="en-IN" b="0" dirty="0">
                <a:solidFill>
                  <a:schemeClr val="tx1"/>
                </a:solidFill>
              </a:rPr>
              <a:t> Link</a:t>
            </a:r>
            <a:r>
              <a:rPr lang="en-IN" dirty="0">
                <a:solidFill>
                  <a:srgbClr val="7030A0"/>
                </a:solidFill>
              </a:rPr>
              <a:t>: </a:t>
            </a:r>
            <a:r>
              <a:rPr lang="en-IN" dirty="0">
                <a:solidFill>
                  <a:srgbClr val="7030A0"/>
                </a:solidFill>
                <a:hlinkClick r:id="rId6">
                  <a:extLst>
                    <a:ext uri="{A12FA001-AC4F-418D-AE19-62706E023703}">
                      <ahyp:hlinkClr xmlns:ahyp="http://schemas.microsoft.com/office/drawing/2018/hyperlinkcolor" val="tx"/>
                    </a:ext>
                  </a:extLst>
                </a:hlinkClick>
              </a:rPr>
              <a:t>https://github.com/Sigchi98/Seasonal-Agriculture-Performance-Analysis.git</a:t>
            </a:r>
            <a:r>
              <a:rPr lang="en-IN" dirty="0">
                <a:solidFill>
                  <a:srgbClr val="7030A0"/>
                </a:solidFill>
              </a:rPr>
              <a:t> </a:t>
            </a:r>
            <a:r>
              <a:rPr lang="en-IN" dirty="0">
                <a:solidFill>
                  <a:schemeClr val="tx1"/>
                </a:solidFill>
              </a:rPr>
              <a:t>|</a:t>
            </a:r>
          </a:p>
          <a:p>
            <a:pPr lvl="0" algn="l"/>
            <a:r>
              <a:rPr lang="en-IN" b="0" dirty="0">
                <a:solidFill>
                  <a:schemeClr val="tx1"/>
                </a:solidFill>
              </a:rPr>
              <a:t> </a:t>
            </a:r>
            <a:r>
              <a:rPr lang="en-IN" b="0" dirty="0" err="1">
                <a:solidFill>
                  <a:schemeClr val="tx1"/>
                </a:solidFill>
              </a:rPr>
              <a:t>Colab</a:t>
            </a:r>
            <a:r>
              <a:rPr lang="en-IN" b="0" dirty="0">
                <a:solidFill>
                  <a:schemeClr val="tx1"/>
                </a:solidFill>
              </a:rPr>
              <a:t> Link</a:t>
            </a:r>
            <a:r>
              <a:rPr lang="en-IN" dirty="0">
                <a:solidFill>
                  <a:srgbClr val="7030A0"/>
                </a:solidFill>
              </a:rPr>
              <a:t>: </a:t>
            </a:r>
            <a:r>
              <a:rPr lang="en-IN" dirty="0">
                <a:solidFill>
                  <a:srgbClr val="7030A0"/>
                </a:solidFill>
                <a:hlinkClick r:id="rId7">
                  <a:extLst>
                    <a:ext uri="{A12FA001-AC4F-418D-AE19-62706E023703}">
                      <ahyp:hlinkClr xmlns:ahyp="http://schemas.microsoft.com/office/drawing/2018/hyperlinkcolor" val="tx"/>
                    </a:ext>
                  </a:extLst>
                </a:hlinkClick>
              </a:rPr>
              <a:t>https://colab.research.google.com/drive/1TdXwb-sWrLA9aCcV1VudkqmjcKOdPZzz?usp=sharing</a:t>
            </a:r>
            <a:endParaRPr lang="en-IN" dirty="0">
              <a:solidFill>
                <a:srgbClr val="7030A0"/>
              </a:solidFill>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727</TotalTime>
  <Words>1289</Words>
  <Application>Microsoft Office PowerPoint</Application>
  <PresentationFormat>Widescreen</PresentationFormat>
  <Paragraphs>71</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Trebuchet MS</vt:lpstr>
      <vt:lpstr>Wingdings</vt:lpstr>
      <vt:lpstr>Wingdings 3</vt:lpstr>
      <vt:lpstr>Facet</vt:lpstr>
      <vt:lpstr>Major Project:  Seasonal Agriculture Performance Analysis</vt:lpstr>
      <vt:lpstr>PROBLEM  STATEMENT</vt:lpstr>
      <vt:lpstr>Project Description  The dataset represents agricultural activities carried out across different seasons, geographical areas and farming conditions. It contains information related to farming practices, environmental conditions, crop production, resource usage and economic performance.  Seasonal variations can influence different aspects of agricultural activities and performance. Understanding seasonal patterns through data analytics can help stakeholders:  Understand variations in agricultural performance  Identify important seasonal trends  Compare performance across different periods  Understand changing environmental conditions  Examine differences in resource usage  Identify areas requiring further investigation  Support evidence-based agricultural planning  The primary objective of this project is to analyze agricultural data from different seasons and identify meaningful patterns, trends, relationships and differences in agricultural performance.  Expected Outcomes:  Demonstrate an understanding of seasonal agricultural data.  Perform appropriate data cleaning and preparation.  Identify important seasonal patterns.  Compare agricultural performance across seasons.  Discover relationships and variations within the dataset.  Select suitable analytical and visualization techniques independently.  Interpret analytical findings correctly.  Identify significant observations from the data.  Develop evidence-based insights.  Provide appropriate recommendations based on their findings.  Document the complete analysis in a Jupyter Notebook. </vt:lpstr>
      <vt:lpstr>Project Description  ..continuation  Questions that needs to be answered:  Q1. How does agricultural performance vary across seasons?  Q2.What major seasonal patterns can be observed? Q3.Which characteristics change between seasons? Q4. What differences exist between agricultural activities in different seasons? Q5.Are there noticeable variations in resource usage across seasons? Q6. Are there relationships between seasonal environmental conditions and agricultural performance? Q7. How do economic outcomes vary across seasons? Q8. Are some seasonal patterns consistent across different regions or categories? Q9. Are there unusual or unexpected seasonal patterns? Q10. What insights can be derived from the observed seasonal differences? Q11. What conclusions can reasonably be drawn from the available data? Q12. How could the findings support better seasonal agricultural planning?</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Mohit Sigchi</cp:lastModifiedBy>
  <cp:revision>101</cp:revision>
  <dcterms:created xsi:type="dcterms:W3CDTF">2021-07-11T13:13:15Z</dcterms:created>
  <dcterms:modified xsi:type="dcterms:W3CDTF">2026-09-10T06:15:26Z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